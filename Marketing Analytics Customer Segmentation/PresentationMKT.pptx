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18"/>
  </p:notesMasterIdLst>
  <p:handoutMasterIdLst>
    <p:handoutMasterId r:id="rId19"/>
  </p:handoutMasterIdLst>
  <p:sldIdLst>
    <p:sldId id="261" r:id="rId5"/>
    <p:sldId id="273" r:id="rId6"/>
    <p:sldId id="280" r:id="rId7"/>
    <p:sldId id="322" r:id="rId8"/>
    <p:sldId id="321" r:id="rId9"/>
    <p:sldId id="286" r:id="rId10"/>
    <p:sldId id="316" r:id="rId11"/>
    <p:sldId id="317" r:id="rId12"/>
    <p:sldId id="318" r:id="rId13"/>
    <p:sldId id="319" r:id="rId14"/>
    <p:sldId id="308" r:id="rId15"/>
    <p:sldId id="320" r:id="rId16"/>
    <p:sldId id="31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9074B-E99D-414E-89FB-41486AF28983}" v="417" dt="2024-12-04T05:17:45.845"/>
    <p1510:client id="{23B3631E-3370-D84B-8992-33EF0598A265}" v="3656" dt="2024-12-04T06:09:25.239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12/4/2024</a:t>
            </a:fld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12/4/2024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5294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BC4B-2E4C-09E8-E5B6-3F4E5339B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F04ED6-A9F5-FF7B-3B3D-47369AA7E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9CD57-F3B8-E100-7006-87D4459DA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86065-B688-2C62-2B7B-D971E07BD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78997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5DC0-92D4-325F-9EB6-4128A13DA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5504C-BFF6-D594-B387-273552952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2B8EE-8F55-E17C-4F2B-A7A6A56CF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CB0DF-DBDE-F1DD-D2DF-EC4887213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29924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703C-3DF2-005A-4527-DC3A4351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08C96-A891-D75B-5986-10BFBB91D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F104E-C4C0-8A60-7144-D2234FA93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5393A-BD4D-18DD-2880-79C282BE3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7617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BDBC-1754-D00F-FA7C-0147DB38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5C05E-8F74-2770-25C3-5BC8FE632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6077E-7B62-5F27-6542-1877C2A8D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C2CE7-6386-67CB-0F7D-01EBF0D76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55686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1825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Important Content</a:t>
            </a:r>
            <a:endParaRPr lang="en-GB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</a:t>
            </a:r>
            <a:r>
              <a:rPr lang="en-US" err="1"/>
              <a:t>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</a:t>
            </a:r>
            <a:r>
              <a:rPr lang="en-US" err="1"/>
              <a:t>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THANK </a:t>
            </a:r>
            <a:r>
              <a:rPr lang="en-US" err="1"/>
              <a:t>yOU</a:t>
            </a:r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Insert Image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THANK </a:t>
            </a:r>
            <a:r>
              <a:rPr lang="en-US" err="1"/>
              <a:t>yOU</a:t>
            </a:r>
            <a:endParaRPr lang="en-US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I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MARKETING</a:t>
            </a:r>
            <a:br>
              <a:rPr lang="en-US"/>
            </a:br>
            <a:r>
              <a:rPr lang="en-US"/>
              <a:t>SEGMENTATION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59706" y="4297679"/>
            <a:ext cx="4628581" cy="1463040"/>
          </a:xfrm>
        </p:spPr>
        <p:txBody>
          <a:bodyPr>
            <a:normAutofit fontScale="92500"/>
          </a:bodyPr>
          <a:lstStyle/>
          <a:p>
            <a:pPr algn="l"/>
            <a:r>
              <a:rPr lang="en-CA"/>
              <a:t>Abdulkhodiy Nematov     </a:t>
            </a:r>
            <a:r>
              <a:rPr lang="en-CA" sz="1600"/>
              <a:t>NF1004928</a:t>
            </a:r>
            <a:endParaRPr lang="en-CA"/>
          </a:p>
          <a:p>
            <a:pPr algn="l"/>
            <a:r>
              <a:rPr lang="en-CA"/>
              <a:t>Teddy Fabrizio Baeny Vargas   </a:t>
            </a:r>
            <a:r>
              <a:rPr lang="en-CA" sz="1600"/>
              <a:t>NF1005996</a:t>
            </a:r>
          </a:p>
          <a:p>
            <a:pPr algn="l"/>
            <a:r>
              <a:rPr lang="en-CA"/>
              <a:t>Cristian Camilo Alfonso Mojica   </a:t>
            </a:r>
            <a:r>
              <a:rPr lang="en-CA" sz="1600"/>
              <a:t>NF1007669</a:t>
            </a:r>
            <a:endParaRPr lang="en-CA"/>
          </a:p>
          <a:p>
            <a:pPr algn="l"/>
            <a:r>
              <a:rPr lang="en-US"/>
              <a:t>Brenda Carolina Amparo Gracia  </a:t>
            </a:r>
            <a:r>
              <a:rPr lang="en-US" sz="1600"/>
              <a:t>NF1004311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Theory and importance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4755271" cy="2922240"/>
          </a:xfrm>
        </p:spPr>
        <p:txBody>
          <a:bodyPr>
            <a:normAutofit/>
          </a:bodyPr>
          <a:lstStyle/>
          <a:p>
            <a:pPr algn="just" fontAlgn="base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</a:pP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</a:rPr>
              <a:t>Classification of consumers within a market that share related needs and establish related purchasing behavioral habits. (Kotler, 2010) </a:t>
            </a:r>
          </a:p>
          <a:p>
            <a:pPr algn="just" fontAlgn="base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</a:pP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</a:rPr>
              <a:t>Organization markets (products or services) it should focus on the various types of segmentation.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INTRODUCTION – CUSTOMER SEGMENTATION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2D9AFFAD-99D6-F393-9388-ADF15D7924F7}"/>
              </a:ext>
            </a:extLst>
          </p:cNvPr>
          <p:cNvSpPr txBox="1">
            <a:spLocks/>
          </p:cNvSpPr>
          <p:nvPr/>
        </p:nvSpPr>
        <p:spPr>
          <a:xfrm>
            <a:off x="5735960" y="2667000"/>
            <a:ext cx="5688632" cy="3426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</a:rPr>
              <a:t>Allow businesses to focus on their consumers' behaviors and purchasing patterns.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>
                <a:solidFill>
                  <a:srgbClr val="333333"/>
                </a:solidFill>
                <a:latin typeface="Open Sans" panose="020B0606030504020204" pitchFamily="34" charset="0"/>
              </a:rPr>
              <a:t>Allows an organization to achieve its highest return on investment (ROI) in turn for its marketing and sales expenses. </a:t>
            </a:r>
          </a:p>
        </p:txBody>
      </p:sp>
      <p:sp>
        <p:nvSpPr>
          <p:cNvPr id="11" name="Content Placeholder 33">
            <a:extLst>
              <a:ext uri="{FF2B5EF4-FFF2-40B4-BE49-F238E27FC236}">
                <a16:creationId xmlns:a16="http://schemas.microsoft.com/office/drawing/2014/main" id="{BF2E559F-35E0-3BBF-825B-CCEA70F32342}"/>
              </a:ext>
            </a:extLst>
          </p:cNvPr>
          <p:cNvSpPr txBox="1">
            <a:spLocks/>
          </p:cNvSpPr>
          <p:nvPr/>
        </p:nvSpPr>
        <p:spPr>
          <a:xfrm>
            <a:off x="906186" y="6404834"/>
            <a:ext cx="1650357" cy="47203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/>
              <a:t>(Martin, n.d.)</a:t>
            </a:r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22244" y="1635481"/>
            <a:ext cx="4389542" cy="4163339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882475" y="1930400"/>
            <a:ext cx="4069079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20000"/>
              </a:lnSpc>
              <a:buFont typeface="Calibri" panose="020B0604020202020204" pitchFamily="34" charset="0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K-means clustering</a:t>
            </a:r>
            <a:endParaRPr lang="en-US"/>
          </a:p>
          <a:p>
            <a:pPr marL="457200" indent="-457200">
              <a:lnSpc>
                <a:spcPct val="120000"/>
              </a:lnSpc>
              <a:buFont typeface="Calibri" panose="020B0604020202020204" pitchFamily="34" charset="0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Age, income, engagement and spending used. </a:t>
            </a:r>
          </a:p>
          <a:p>
            <a:pPr>
              <a:lnSpc>
                <a:spcPct val="120000"/>
              </a:lnSpc>
            </a:pPr>
            <a:endParaRPr lang="en-US">
              <a:solidFill>
                <a:srgbClr val="202122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64541-9573-A1FD-BFE1-295C6D35A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8026D-7710-AD9C-35E5-C0A484DBCA99}"/>
              </a:ext>
            </a:extLst>
          </p:cNvPr>
          <p:cNvSpPr txBox="1"/>
          <p:nvPr/>
        </p:nvSpPr>
        <p:spPr>
          <a:xfrm>
            <a:off x="2269645" y="645731"/>
            <a:ext cx="657086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Make purchasing behavior and engagement ordinal variables</a:t>
            </a:r>
          </a:p>
        </p:txBody>
      </p:sp>
      <p:pic>
        <p:nvPicPr>
          <p:cNvPr id="4" name="Picture 3" descr="A screenshot of a data&#10;&#10;Description automatically generated">
            <a:extLst>
              <a:ext uri="{FF2B5EF4-FFF2-40B4-BE49-F238E27FC236}">
                <a16:creationId xmlns:a16="http://schemas.microsoft.com/office/drawing/2014/main" id="{224E4810-2BD8-2727-AEE8-B90EF2DA3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60" y="1603469"/>
            <a:ext cx="6571255" cy="492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68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64541-9573-A1FD-BFE1-295C6D35A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5</a:t>
            </a:fld>
            <a:endParaRPr lang="en-US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768946-1E0B-5B56-C63E-F36FDBDD62D6}"/>
              </a:ext>
            </a:extLst>
          </p:cNvPr>
          <p:cNvCxnSpPr>
            <a:cxnSpLocks/>
          </p:cNvCxnSpPr>
          <p:nvPr/>
        </p:nvCxnSpPr>
        <p:spPr>
          <a:xfrm>
            <a:off x="1595500" y="3604084"/>
            <a:ext cx="8964996" cy="0"/>
          </a:xfrm>
          <a:prstGeom prst="line">
            <a:avLst/>
          </a:prstGeom>
          <a:ln w="571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 descr="A screenshot of a data table&#10;&#10;Description automatically generated">
            <a:extLst>
              <a:ext uri="{FF2B5EF4-FFF2-40B4-BE49-F238E27FC236}">
                <a16:creationId xmlns:a16="http://schemas.microsoft.com/office/drawing/2014/main" id="{A5A80393-2E5B-0B92-6854-D817D8D1F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22" y="1710661"/>
            <a:ext cx="10254018" cy="48810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38026D-7710-AD9C-35E5-C0A484DBCA99}"/>
              </a:ext>
            </a:extLst>
          </p:cNvPr>
          <p:cNvSpPr txBox="1"/>
          <p:nvPr/>
        </p:nvSpPr>
        <p:spPr>
          <a:xfrm>
            <a:off x="2269645" y="645731"/>
            <a:ext cx="657086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Use standardization and determine the clusters</a:t>
            </a:r>
          </a:p>
        </p:txBody>
      </p:sp>
    </p:spTree>
    <p:extLst>
      <p:ext uri="{BB962C8B-B14F-4D97-AF65-F5344CB8AC3E}">
        <p14:creationId xmlns:p14="http://schemas.microsoft.com/office/powerpoint/2010/main" val="299253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2B9606-F9BC-40CD-9467-6348ACE41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682397A-D234-4487-8E63-23B79C769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7199992-58FE-4335-A811-6AFA96B5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71048"/>
            <a:ext cx="5442198" cy="908111"/>
          </a:xfrm>
        </p:spPr>
        <p:txBody>
          <a:bodyPr>
            <a:normAutofit fontScale="90000"/>
          </a:bodyPr>
          <a:lstStyle/>
          <a:p>
            <a:r>
              <a:rPr lang="en-US"/>
              <a:t>SEGMENT DESCRIPTIONS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F8FCB52-DD55-48F6-9F4A-D2A0F6586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F8AE90-5A98-6F3F-D149-F9075C13CE8C}"/>
              </a:ext>
            </a:extLst>
          </p:cNvPr>
          <p:cNvSpPr/>
          <p:nvPr/>
        </p:nvSpPr>
        <p:spPr>
          <a:xfrm>
            <a:off x="3587393" y="1484711"/>
            <a:ext cx="5760640" cy="3889455"/>
          </a:xfrm>
          <a:prstGeom prst="rect">
            <a:avLst/>
          </a:prstGeom>
          <a:ln>
            <a:solidFill>
              <a:srgbClr val="E58C0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Each cluster was built considering different segmentation variables: </a:t>
            </a:r>
            <a:endParaRPr lang="en-US"/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Age (Demographic)</a:t>
            </a:r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Gender (Demographic)</a:t>
            </a:r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Income (Demographic)</a:t>
            </a:r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Location (Geographic)</a:t>
            </a:r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Purchasing Behavior (Behavioral)</a:t>
            </a:r>
          </a:p>
          <a:p>
            <a:pPr marL="285750" indent="-285750" algn="ctr">
              <a:lnSpc>
                <a:spcPct val="150000"/>
              </a:lnSpc>
              <a:buFont typeface="Calibri"/>
              <a:buChar char="-"/>
            </a:pPr>
            <a:r>
              <a:rPr lang="en-US">
                <a:solidFill>
                  <a:srgbClr val="202122"/>
                </a:solidFill>
                <a:latin typeface="Lato"/>
                <a:ea typeface="Lato"/>
                <a:cs typeface="Lato"/>
              </a:rPr>
              <a:t>Engagement with the marketing campaigns (Behavioral)</a:t>
            </a:r>
          </a:p>
        </p:txBody>
      </p:sp>
    </p:spTree>
    <p:extLst>
      <p:ext uri="{BB962C8B-B14F-4D97-AF65-F5344CB8AC3E}">
        <p14:creationId xmlns:p14="http://schemas.microsoft.com/office/powerpoint/2010/main" val="306905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A94F4-384C-C9A5-30A4-182B090B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81D9AB0-D7E6-855D-EBAF-4863C06B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00" y="820903"/>
            <a:ext cx="10805160" cy="707886"/>
          </a:xfrm>
        </p:spPr>
        <p:txBody>
          <a:bodyPr/>
          <a:lstStyle/>
          <a:p>
            <a:r>
              <a:rPr lang="en-US"/>
              <a:t>Segmentation by clusters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710DC6F-0C6E-8C18-2D1C-39568D5BA3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36360" y="2060848"/>
            <a:ext cx="2088232" cy="3168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Young customers (Age range from 18 to 43) </a:t>
            </a:r>
          </a:p>
          <a:p>
            <a:r>
              <a:rPr lang="en-US"/>
              <a:t>High and Moderate Spender. </a:t>
            </a:r>
          </a:p>
          <a:p>
            <a:r>
              <a:rPr lang="en-US"/>
              <a:t>Mainly Located in the south and west regions </a:t>
            </a:r>
          </a:p>
          <a:p>
            <a:r>
              <a:rPr lang="en-US"/>
              <a:t>Diverse in gender, income and engagement.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1014208-EBAF-EE60-23A5-E42DA04349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1944" y="962480"/>
            <a:ext cx="4937760" cy="424732"/>
          </a:xfrm>
        </p:spPr>
        <p:txBody>
          <a:bodyPr/>
          <a:lstStyle/>
          <a:p>
            <a:pPr algn="l"/>
            <a:r>
              <a:rPr lang="en-US"/>
              <a:t>CLUSTER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96BBC7-38F6-5D03-2595-E78C61088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C69113C0-68EF-AB59-2585-94102FDC9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6AC89C8-04AD-88E5-E4BC-E7C4D88D6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694910"/>
            <a:ext cx="7704856" cy="486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96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12B0B-B657-173C-1E46-8F936D4A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9F5D618-C66D-CBC8-CE87-7EFF89C64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679326"/>
            <a:ext cx="10805160" cy="707886"/>
          </a:xfrm>
        </p:spPr>
        <p:txBody>
          <a:bodyPr/>
          <a:lstStyle/>
          <a:p>
            <a:r>
              <a:rPr lang="en-US"/>
              <a:t>Segmentation by clusters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11CEC26-E645-ED9C-8B29-4734AE6B10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85588" y="2060848"/>
            <a:ext cx="2088232" cy="3168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Customers with Mid and High-Income levels</a:t>
            </a:r>
          </a:p>
          <a:p>
            <a:r>
              <a:rPr lang="en-US"/>
              <a:t>Low and Moderate Spenders</a:t>
            </a:r>
          </a:p>
          <a:p>
            <a:r>
              <a:rPr lang="en-US"/>
              <a:t>Located in the North and East regions</a:t>
            </a:r>
          </a:p>
          <a:p>
            <a:r>
              <a:rPr lang="en-US"/>
              <a:t>Few and Rarely engaged</a:t>
            </a:r>
          </a:p>
          <a:p>
            <a:r>
              <a:rPr lang="en-US"/>
              <a:t>Diverse age and gender</a:t>
            </a:r>
          </a:p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32251F4-FDF6-DDDA-E7FD-C9D560A415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1944" y="962480"/>
            <a:ext cx="4937760" cy="424732"/>
          </a:xfrm>
        </p:spPr>
        <p:txBody>
          <a:bodyPr/>
          <a:lstStyle/>
          <a:p>
            <a:pPr algn="l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CLUSTER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C7ACE-C2A8-0D30-02B4-05C15238A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48A0D074-E86B-4F17-1AEA-69CC7438B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BA283D1-083E-B3E3-BE0D-BD630D20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654" y="1486842"/>
            <a:ext cx="8303647" cy="496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8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4C698-7EED-4163-E658-644947DC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CAFB1C7-851C-0612-6163-572C198A6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679326"/>
            <a:ext cx="10805160" cy="707886"/>
          </a:xfrm>
        </p:spPr>
        <p:txBody>
          <a:bodyPr/>
          <a:lstStyle/>
          <a:p>
            <a:r>
              <a:rPr lang="en-US"/>
              <a:t>Segmentation by clusters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6DAD14E-C3C0-D16D-5EAF-D7F52F284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89899" y="2132856"/>
            <a:ext cx="2088232" cy="3168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Mainly Located in East and West.</a:t>
            </a:r>
          </a:p>
          <a:p>
            <a:r>
              <a:rPr lang="en-US"/>
              <a:t>Almost everyone (31) is engaged with the campaigns.</a:t>
            </a:r>
          </a:p>
          <a:p>
            <a:r>
              <a:rPr lang="en-US"/>
              <a:t>Diverse age, gender, spending and income.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4C30632-B290-AC73-32F0-9384930C44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1944" y="962480"/>
            <a:ext cx="4937760" cy="424732"/>
          </a:xfrm>
        </p:spPr>
        <p:txBody>
          <a:bodyPr/>
          <a:lstStyle/>
          <a:p>
            <a:pPr algn="l"/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CLUSTER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61A995-2C36-1D76-DC6F-7BF665842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CBE9C9E0-E983-295A-1600-9ADFA824A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76BFF75-6862-5ADF-2B84-FF3391DA5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59" y="1484784"/>
            <a:ext cx="8525769" cy="487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089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6277-A3FD-0A80-8783-828F2142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5C8D8A7-647E-434E-8C92-6EB3A48D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679326"/>
            <a:ext cx="10805160" cy="707886"/>
          </a:xfrm>
        </p:spPr>
        <p:txBody>
          <a:bodyPr/>
          <a:lstStyle/>
          <a:p>
            <a:r>
              <a:rPr lang="en-US"/>
              <a:t>Segmentation by clusters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3DDAC9E-10D5-82F2-9937-B3B01D382E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52384" y="2060848"/>
            <a:ext cx="2088232" cy="31683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/>
              <a:t>Adults and seniors </a:t>
            </a:r>
          </a:p>
          <a:p>
            <a:r>
              <a:rPr lang="en-US"/>
              <a:t>Lower income level </a:t>
            </a:r>
          </a:p>
          <a:p>
            <a:r>
              <a:rPr lang="en-US"/>
              <a:t>Few or non-existent engagement with campaigns. </a:t>
            </a:r>
          </a:p>
          <a:p>
            <a:r>
              <a:rPr lang="en-US"/>
              <a:t>Diverse gender, region and purchasing behavior.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C32EE34-8BA6-1DDA-A6F3-B65A3538DC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1944" y="962480"/>
            <a:ext cx="4937760" cy="424732"/>
          </a:xfrm>
        </p:spPr>
        <p:txBody>
          <a:bodyPr/>
          <a:lstStyle/>
          <a:p>
            <a:pPr algn="l"/>
            <a:r>
              <a:rPr lang="en-US">
                <a:solidFill>
                  <a:schemeClr val="bg1">
                    <a:lumMod val="65000"/>
                  </a:schemeClr>
                </a:solidFill>
              </a:rPr>
              <a:t>CLUSTER 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36BF41-A606-438C-DDE7-682E561FF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9" name="Text Placeholder 119">
            <a:extLst>
              <a:ext uri="{FF2B5EF4-FFF2-40B4-BE49-F238E27FC236}">
                <a16:creationId xmlns:a16="http://schemas.microsoft.com/office/drawing/2014/main" id="{582A2F57-384C-123D-9B60-73B21E03E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D17E922-BCC6-4545-E170-617C3AE06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60" y="1403173"/>
            <a:ext cx="8663127" cy="492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50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24509E-BB74-42FE-A9A8-F01572CD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2060"/>
            <a:ext cx="10719964" cy="442564"/>
          </a:xfrm>
        </p:spPr>
        <p:txBody>
          <a:bodyPr>
            <a:noAutofit/>
          </a:bodyPr>
          <a:lstStyle/>
          <a:p>
            <a:r>
              <a:rPr lang="en-US" sz="3200"/>
              <a:t>STRATEGIC RECOMMENDATIONS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6BA4CE-8BD2-419E-A270-15A0EFE01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2" name="Text Placeholder 119">
            <a:extLst>
              <a:ext uri="{FF2B5EF4-FFF2-40B4-BE49-F238E27FC236}">
                <a16:creationId xmlns:a16="http://schemas.microsoft.com/office/drawing/2014/main" id="{C0F25050-A2F4-4F04-ACDB-1E6965034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E130FA9-9682-4FC0-84C0-A1E09669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704188"/>
              </p:ext>
            </p:extLst>
          </p:nvPr>
        </p:nvGraphicFramePr>
        <p:xfrm>
          <a:off x="391297" y="659027"/>
          <a:ext cx="11125435" cy="580326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25087">
                  <a:extLst>
                    <a:ext uri="{9D8B030D-6E8A-4147-A177-3AD203B41FA5}">
                      <a16:colId xmlns:a16="http://schemas.microsoft.com/office/drawing/2014/main" val="3698606507"/>
                    </a:ext>
                  </a:extLst>
                </a:gridCol>
                <a:gridCol w="2225087">
                  <a:extLst>
                    <a:ext uri="{9D8B030D-6E8A-4147-A177-3AD203B41FA5}">
                      <a16:colId xmlns:a16="http://schemas.microsoft.com/office/drawing/2014/main" val="4203379421"/>
                    </a:ext>
                  </a:extLst>
                </a:gridCol>
                <a:gridCol w="2225087">
                  <a:extLst>
                    <a:ext uri="{9D8B030D-6E8A-4147-A177-3AD203B41FA5}">
                      <a16:colId xmlns:a16="http://schemas.microsoft.com/office/drawing/2014/main" val="1923939207"/>
                    </a:ext>
                  </a:extLst>
                </a:gridCol>
                <a:gridCol w="2225087">
                  <a:extLst>
                    <a:ext uri="{9D8B030D-6E8A-4147-A177-3AD203B41FA5}">
                      <a16:colId xmlns:a16="http://schemas.microsoft.com/office/drawing/2014/main" val="4275484518"/>
                    </a:ext>
                  </a:extLst>
                </a:gridCol>
                <a:gridCol w="2225087">
                  <a:extLst>
                    <a:ext uri="{9D8B030D-6E8A-4147-A177-3AD203B41FA5}">
                      <a16:colId xmlns:a16="http://schemas.microsoft.com/office/drawing/2014/main" val="2258472050"/>
                    </a:ext>
                  </a:extLst>
                </a:gridCol>
              </a:tblGrid>
              <a:tr h="3460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w Cen MT"/>
                          <a:ea typeface="+mn-ea"/>
                          <a:cs typeface="+mn-cs"/>
                        </a:rPr>
                        <a:t>Segment</a:t>
                      </a:r>
                      <a:endParaRPr kumimoji="0" lang="en-GB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Cluster</a:t>
                      </a:r>
                      <a:r>
                        <a:rPr kumimoji="0"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1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Cluster 2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Cluster</a:t>
                      </a:r>
                      <a:r>
                        <a:rPr kumimoji="0"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3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Cluster 4</a:t>
                      </a:r>
                      <a:endParaRPr kumimoji="0" lang="en-US" sz="140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21535"/>
                  </a:ext>
                </a:extLst>
              </a:tr>
              <a:tr h="11370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Product</a:t>
                      </a:r>
                      <a:endParaRPr kumimoji="0" lang="en-GB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Products that cater to both genders, but to younger audiences. Luxury or high-end products 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Focus on products that have high lifecycle and great value for a low price. Gain these customers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Products for all ages and not gender-focused. Highlight customizable and versatile products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Products for a senior and mature audience. Daily and affordable as their income is lower</a:t>
                      </a:r>
                      <a:endParaRPr kumimoji="0"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810757"/>
                  </a:ext>
                </a:extLst>
              </a:tr>
              <a:tr h="1557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Price</a:t>
                      </a:r>
                      <a:endParaRPr kumimoji="0" lang="en-GB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Premium pricing strategy as there are mostly high spenders in the cluster.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Value-oriented pricing so consumers are interested in purchasing. Make flexible payment options.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Variety of prices so all customers feel included. Product bundles 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Accessible prices and bundle offers to encourage higher spending.</a:t>
                      </a:r>
                      <a:endParaRPr kumimoji="0"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639679"/>
                  </a:ext>
                </a:extLst>
              </a:tr>
              <a:tr h="13471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Place</a:t>
                      </a:r>
                      <a:endParaRPr kumimoji="0" lang="en-GB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/>
                        <a:t>Leverage e-commerce platforms to ensure accessibility across all regions.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/>
                        <a:t>Focus distribution on South and West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Free delivery, to increase convenience for low-engagement customers. Priority for east and north clients while keeping focus on others.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/>
                        <a:t>Provide multiple purchase options (home delivery, click-and-collect) </a:t>
                      </a:r>
                      <a:r>
                        <a:rPr lang="en-CA" sz="1400" b="0"/>
                        <a:t>t</a:t>
                      </a:r>
                      <a:r>
                        <a:rPr lang="en-CA" sz="1400"/>
                        <a:t>o address demanding lifestyles and </a:t>
                      </a:r>
                      <a:r>
                        <a:rPr lang="en-CA" sz="1400" err="1"/>
                        <a:t>and</a:t>
                      </a:r>
                      <a:r>
                        <a:rPr lang="en-CA" sz="1400"/>
                        <a:t> many regions.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/>
                        <a:t>Online shopping platforms for accessibility, especially for regions with fewer physical locations.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187532"/>
                  </a:ext>
                </a:extLst>
              </a:tr>
              <a:tr h="13471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Promotion</a:t>
                      </a:r>
                      <a:endParaRPr kumimoji="0" lang="en-GB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/>
                        <a:t>Design marketing campaigns specific to regional differences (East, North, South, and West) and target according to engagement levels.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/>
                        <a:t>Marketing (videos, social media) to highlight benefits and value of the product. Attract customers and educate about our brand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Personalized offers and loyalty programs. Reactivation campaign for the rarely engaged customers</a:t>
                      </a:r>
                      <a:endParaRPr kumimoji="0"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Revival and </a:t>
                      </a:r>
                      <a:r>
                        <a:rPr lang="en-US" sz="1400" err="1"/>
                        <a:t>awaraness</a:t>
                      </a:r>
                      <a:r>
                        <a:rPr lang="en-US" sz="1400"/>
                        <a:t> strategies: Offer special deals or free trials to motivate purchases.</a:t>
                      </a:r>
                      <a:endParaRPr kumimoji="0"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568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089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54D2-5938-335D-F695-6AF467A9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760" y="2564904"/>
            <a:ext cx="5547360" cy="2078360"/>
          </a:xfrm>
        </p:spPr>
        <p:txBody>
          <a:bodyPr>
            <a:normAutofit/>
          </a:bodyPr>
          <a:lstStyle/>
          <a:p>
            <a:r>
              <a:rPr lang="en-CA" sz="7200"/>
              <a:t>THANK YOU..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364541-9573-A1FD-BFE1-295C6D35A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12</a:t>
            </a:fld>
            <a:endParaRPr lang="en-US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768946-1E0B-5B56-C63E-F36FDBDD62D6}"/>
              </a:ext>
            </a:extLst>
          </p:cNvPr>
          <p:cNvCxnSpPr>
            <a:cxnSpLocks/>
          </p:cNvCxnSpPr>
          <p:nvPr/>
        </p:nvCxnSpPr>
        <p:spPr>
          <a:xfrm>
            <a:off x="1595500" y="3604084"/>
            <a:ext cx="8964996" cy="0"/>
          </a:xfrm>
          <a:prstGeom prst="line">
            <a:avLst/>
          </a:prstGeom>
          <a:ln w="571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69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E3CC-2738-E156-4A87-EAFF4AB3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3A868-C7E2-35C5-391D-65BEC77C4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ECA96D-D173-23AE-C2CE-639AB1E57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448" y="1988840"/>
            <a:ext cx="5688632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Martin, G. (n.d.). 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marketing segmentation.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https://eric.ed.gov/?id=EJ1056632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2623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6951093-aff8-47ef-9036-38b04ddebc3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FDA18792EAA41BAC16BF148E7D348" ma:contentTypeVersion="6" ma:contentTypeDescription="Create a new document." ma:contentTypeScope="" ma:versionID="0b862a86d5572f51fa782188e93a7094">
  <xsd:schema xmlns:xsd="http://www.w3.org/2001/XMLSchema" xmlns:xs="http://www.w3.org/2001/XMLSchema" xmlns:p="http://schemas.microsoft.com/office/2006/metadata/properties" xmlns:ns3="66951093-aff8-47ef-9036-38b04ddebc37" targetNamespace="http://schemas.microsoft.com/office/2006/metadata/properties" ma:root="true" ma:fieldsID="5efc54bc3312c323fb1affa8b3e315dc" ns3:_="">
    <xsd:import namespace="66951093-aff8-47ef-9036-38b04ddebc3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51093-aff8-47ef-9036-38b04ddebc3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6D9CC-0D9D-4BFE-B3F3-26F480BF8C8A}">
  <ds:schemaRefs>
    <ds:schemaRef ds:uri="66951093-aff8-47ef-9036-38b04ddebc3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739F14-3CEF-4276-9D79-3DC67A70AE12}">
  <ds:schemaRefs>
    <ds:schemaRef ds:uri="66951093-aff8-47ef-9036-38b04ddebc3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Application>Microsoft Office PowerPoint</Application>
  <PresentationFormat>Widescreen</PresentationFormat>
  <Slides>13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ModernClassicBlock-3</vt:lpstr>
      <vt:lpstr>MARKETING SEGMENTATION</vt:lpstr>
      <vt:lpstr>Theory and importance</vt:lpstr>
      <vt:lpstr>Methodology</vt:lpstr>
      <vt:lpstr>PowerPoint Presentation</vt:lpstr>
      <vt:lpstr>PowerPoint Presentation</vt:lpstr>
      <vt:lpstr>SEGMENT DESCRIPTIONS</vt:lpstr>
      <vt:lpstr>Segmentation by clusters</vt:lpstr>
      <vt:lpstr>Segmentation by clusters</vt:lpstr>
      <vt:lpstr>Segmentation by clusters</vt:lpstr>
      <vt:lpstr>Segmentation by clusters</vt:lpstr>
      <vt:lpstr>STRATEGIC RECOMMENDATIONS </vt:lpstr>
      <vt:lpstr>THANK YOU..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 Carolina Amparo Garcia</dc:creator>
  <cp:revision>2</cp:revision>
  <dcterms:created xsi:type="dcterms:W3CDTF">2024-11-27T17:00:04Z</dcterms:created>
  <dcterms:modified xsi:type="dcterms:W3CDTF">2024-12-05T03:49:31Z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0x01010007EFDA18792EAA41BAC16BF148E7D348</vt:lpwstr>
  </property>
</Properties>
</file>